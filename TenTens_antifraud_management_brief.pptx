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f6e878effb41ac" /><Relationship Type="http://schemas.openxmlformats.org/officeDocument/2006/relationships/extended-properties" Target="/docProps/app.xml" Id="Rd8ede1fa921d4a3b" /><Relationship Type="http://schemas.openxmlformats.org/officeDocument/2006/relationships/officeDocument" Target="/ppt/presentation.xml" Id="Rec55420dce114b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b2962d003042e7"/>
  </p:sldMasterIdLst>
  <p:notesMasterIdLst>
    <p:notesMasterId xmlns:r="http://schemas.openxmlformats.org/officeDocument/2006/relationships" r:id="Rddbe404e5a404573"/>
  </p:notesMasterIdLst>
  <p:sldIdLst>
    <p:sldId xmlns:r="http://schemas.openxmlformats.org/officeDocument/2006/relationships" id="256" r:id="R81b8df3fe4224dea"/>
    <p:sldId xmlns:r="http://schemas.openxmlformats.org/officeDocument/2006/relationships" id="257" r:id="R57e00ca0f3e94a60"/>
    <p:sldId xmlns:r="http://schemas.openxmlformats.org/officeDocument/2006/relationships" id="258" r:id="Redb44e85f72f4a26"/>
    <p:sldId xmlns:r="http://schemas.openxmlformats.org/officeDocument/2006/relationships" id="259" r:id="R50294ab1a68846c3"/>
    <p:sldId xmlns:r="http://schemas.openxmlformats.org/officeDocument/2006/relationships" id="260" r:id="Rae16030b662e4c84"/>
    <p:sldId xmlns:r="http://schemas.openxmlformats.org/officeDocument/2006/relationships" id="261" r:id="R7d0a1f04a56f476c"/>
    <p:sldId xmlns:r="http://schemas.openxmlformats.org/officeDocument/2006/relationships" id="262" r:id="Rf122d7992b344b1f"/>
    <p:sldId xmlns:r="http://schemas.openxmlformats.org/officeDocument/2006/relationships" id="263" r:id="R6a69365e33f544f9"/>
    <p:sldId xmlns:r="http://schemas.openxmlformats.org/officeDocument/2006/relationships" id="264" r:id="R9f5da33462d344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881c6cfd424836" /><Relationship Type="http://schemas.openxmlformats.org/officeDocument/2006/relationships/slideMaster" Target="/ppt/slideMasters/slideMaster1.xml" Id="R58b2962d003042e7" /><Relationship Type="http://schemas.openxmlformats.org/officeDocument/2006/relationships/notesMaster" Target="/ppt/notesMasters/notesMaster1.xml" Id="Rddbe404e5a404573" /><Relationship Type="http://schemas.openxmlformats.org/officeDocument/2006/relationships/presProps" Target="/ppt/presProps.xml" Id="R3cb67776739843b6" /><Relationship Type="http://schemas.openxmlformats.org/officeDocument/2006/relationships/viewProps" Target="/ppt/viewProps.xml" Id="R2813523ad7fe4fbc" /><Relationship Type="http://schemas.openxmlformats.org/officeDocument/2006/relationships/tableStyles" Target="/ppt/tableStyles.xml" Id="R8bb89275cd7540b5" /><Relationship Type="http://schemas.openxmlformats.org/officeDocument/2006/relationships/slide" Target="/ppt/slides/slide1.xml" Id="R81b8df3fe4224dea" /><Relationship Type="http://schemas.openxmlformats.org/officeDocument/2006/relationships/slide" Target="/ppt/slides/slide2.xml" Id="R57e00ca0f3e94a60" /><Relationship Type="http://schemas.openxmlformats.org/officeDocument/2006/relationships/slide" Target="/ppt/slides/slide3.xml" Id="Redb44e85f72f4a26" /><Relationship Type="http://schemas.openxmlformats.org/officeDocument/2006/relationships/slide" Target="/ppt/slides/slide4.xml" Id="R50294ab1a68846c3" /><Relationship Type="http://schemas.openxmlformats.org/officeDocument/2006/relationships/slide" Target="/ppt/slides/slide5.xml" Id="Rae16030b662e4c84" /><Relationship Type="http://schemas.openxmlformats.org/officeDocument/2006/relationships/slide" Target="/ppt/slides/slide6.xml" Id="R7d0a1f04a56f476c" /><Relationship Type="http://schemas.openxmlformats.org/officeDocument/2006/relationships/slide" Target="/ppt/slides/slide7.xml" Id="Rf122d7992b344b1f" /><Relationship Type="http://schemas.openxmlformats.org/officeDocument/2006/relationships/slide" Target="/ppt/slides/slide8.xml" Id="R6a69365e33f544f9" /><Relationship Type="http://schemas.openxmlformats.org/officeDocument/2006/relationships/slide" Target="/ppt/slides/slide9.xml" Id="R9f5da33462d344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8183e7a3cf4e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8fcb0fb7049be" /><Relationship Type="http://schemas.openxmlformats.org/officeDocument/2006/relationships/notesMaster" Target="/ppt/notesMasters/notesMaster1.xml" Id="R74187228b2d345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007af9d63544d6" /><Relationship Type="http://schemas.openxmlformats.org/officeDocument/2006/relationships/notesMaster" Target="/ppt/notesMasters/notesMaster1.xml" Id="R49f407dff6684a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7ea4a406bd4f2e" /><Relationship Type="http://schemas.openxmlformats.org/officeDocument/2006/relationships/notesMaster" Target="/ppt/notesMasters/notesMaster1.xml" Id="Rec73d74a2b5e45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6eef6abbe84298" /><Relationship Type="http://schemas.openxmlformats.org/officeDocument/2006/relationships/notesMaster" Target="/ppt/notesMasters/notesMaster1.xml" Id="Ref9daf0f6e3245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bca3aec5924024" /><Relationship Type="http://schemas.openxmlformats.org/officeDocument/2006/relationships/notesMaster" Target="/ppt/notesMasters/notesMaster1.xml" Id="R45f3d2769cc34b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64eb0cef934907" /><Relationship Type="http://schemas.openxmlformats.org/officeDocument/2006/relationships/notesMaster" Target="/ppt/notesMasters/notesMaster1.xml" Id="R9e9f3dfa4f6c47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511f52dc9a476e" /><Relationship Type="http://schemas.openxmlformats.org/officeDocument/2006/relationships/notesMaster" Target="/ppt/notesMasters/notesMaster1.xml" Id="Rabbc6dea83174f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1a14f35db04a68" /><Relationship Type="http://schemas.openxmlformats.org/officeDocument/2006/relationships/notesMaster" Target="/ppt/notesMasters/notesMaster1.xml" Id="R226ec121222d4d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16d3fadec04b62" /><Relationship Type="http://schemas.openxmlformats.org/officeDocument/2006/relationships/notesMaster" Target="/ppt/notesMasters/notesMaster1.xml" Id="R3726d79e4e6a45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7e98728de45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b3049bc4c4e62" /><Relationship Type="http://schemas.openxmlformats.org/officeDocument/2006/relationships/slideLayout" Target="/ppt/slideLayouts/slideLayout1.xml" Id="R5297327c05dd45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97327c05dd45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a88b632a24495" /><Relationship Type="http://schemas.openxmlformats.org/officeDocument/2006/relationships/image" Target="/ppt/media/image.png" Id="R106b1242ec9f4155" /><Relationship Type="http://schemas.openxmlformats.org/officeDocument/2006/relationships/notesSlide" Target="/ppt/notesSlides/notesSlide1.xml" Id="Rbaaeacc55d6442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3ca384fcb4ec9" /><Relationship Type="http://schemas.openxmlformats.org/officeDocument/2006/relationships/image" Target="/ppt/media/image.png" Id="Rcb3961c303194b32" /><Relationship Type="http://schemas.openxmlformats.org/officeDocument/2006/relationships/notesSlide" Target="/ppt/notesSlides/notesSlide2.xml" Id="R9f76856615e44e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b3d77bcb9444d" /><Relationship Type="http://schemas.openxmlformats.org/officeDocument/2006/relationships/image" Target="/ppt/media/image.png" Id="R9f35258445694599" /><Relationship Type="http://schemas.openxmlformats.org/officeDocument/2006/relationships/chart" Target="/ppt/slides/charts/chart1.xml" Id="R302c9df8b09f43bc" /><Relationship Type="http://schemas.openxmlformats.org/officeDocument/2006/relationships/notesSlide" Target="/ppt/notesSlides/notesSlide3.xml" Id="R56e9b97f714e45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676cd06c64a7c" /><Relationship Type="http://schemas.openxmlformats.org/officeDocument/2006/relationships/image" Target="/ppt/media/image.png" Id="Rce9f135447a84433" /><Relationship Type="http://schemas.openxmlformats.org/officeDocument/2006/relationships/chart" Target="/ppt/slides/charts/chart2.xml" Id="Rf94ff052e8f1490c" /><Relationship Type="http://schemas.openxmlformats.org/officeDocument/2006/relationships/notesSlide" Target="/ppt/notesSlides/notesSlide4.xml" Id="R78d6e1538c4c4f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a6d9af8f341a7" /><Relationship Type="http://schemas.openxmlformats.org/officeDocument/2006/relationships/image" Target="/ppt/media/image.png" Id="R6609e5de9d894db8" /><Relationship Type="http://schemas.openxmlformats.org/officeDocument/2006/relationships/chart" Target="/ppt/slides/charts/chart3.xml" Id="R3a94f15d49e44afe" /><Relationship Type="http://schemas.openxmlformats.org/officeDocument/2006/relationships/notesSlide" Target="/ppt/notesSlides/notesSlide5.xml" Id="R8dc0b129cbc743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a280645b44f0f" /><Relationship Type="http://schemas.openxmlformats.org/officeDocument/2006/relationships/image" Target="/ppt/media/image.png" Id="Radba845ba6614a99" /><Relationship Type="http://schemas.openxmlformats.org/officeDocument/2006/relationships/notesSlide" Target="/ppt/notesSlides/notesSlide6.xml" Id="R450f1e65331441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b6ceb3e1b40fd" /><Relationship Type="http://schemas.openxmlformats.org/officeDocument/2006/relationships/image" Target="/ppt/media/image.png" Id="R6026722279c04758" /><Relationship Type="http://schemas.openxmlformats.org/officeDocument/2006/relationships/notesSlide" Target="/ppt/notesSlides/notesSlide7.xml" Id="Rc2898708ac4149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c79954e9d454f" /><Relationship Type="http://schemas.openxmlformats.org/officeDocument/2006/relationships/image" Target="/ppt/media/image.png" Id="R4b49ed5aa05e46bd" /><Relationship Type="http://schemas.openxmlformats.org/officeDocument/2006/relationships/notesSlide" Target="/ppt/notesSlides/notesSlide8.xml" Id="R34896d51f6e244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c52dd5b704c0e" /><Relationship Type="http://schemas.openxmlformats.org/officeDocument/2006/relationships/image" Target="/ppt/media/image.png" Id="R4955927242e14312" /><Relationship Type="http://schemas.openxmlformats.org/officeDocument/2006/relationships/notesSlide" Target="/ppt/notesSlides/notesSlide9.xml" Id="Redebdaf130094ee7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Chargeback</c:v>
          </c:tx>
          <c:spPr>
            <a:solidFill xmlns:a="http://schemas.openxmlformats.org/drawingml/2006/main">
              <a:srgbClr val="FF6B6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6E827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F7FAF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612</c:v>
              </c:pt>
              <c:pt idx="1">
                <c:v>PPC</c:v>
              </c:pt>
            </c:strLit>
          </c:cat>
          <c:val>
            <c:numLit>
              <c:formatCode>0.0</c:formatCode>
              <c:ptCount val="2"/>
              <c:pt idx="0">
                <c:v>14.73</c:v>
              </c:pt>
              <c:pt idx="1">
                <c:v>0.45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2742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E4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23A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2742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3A7A0"/>
                </a:solidFill>
              </a:defRPr>
            </a:pPr>
          </a:p>
        </c:txPr>
        <c:crossAx val="48650112"/>
        <c:crosses val="autoZero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Chargeback amount rate</c:v>
          </c:tx>
          <c:spPr>
            <a:solidFill xmlns:a="http://schemas.openxmlformats.org/drawingml/2006/main">
              <a:srgbClr val="FF6B6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6E827B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350" b="1">
                    <a:solidFill>
                      <a:srgbClr val="F7FAF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1052</c:v>
              </c:pt>
              <c:pt idx="1">
                <c:v>PPC</c:v>
              </c:pt>
            </c:strLit>
          </c:cat>
          <c:val>
            <c:numLit>
              <c:formatCode>0.0</c:formatCode>
              <c:ptCount val="2"/>
              <c:pt idx="0">
                <c:v>21.24</c:v>
              </c:pt>
              <c:pt idx="1">
                <c:v>0.41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23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2742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3A7A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2742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E4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PPC</c:v>
          </c:tx>
          <c:spPr>
            <a:solidFill xmlns:a="http://schemas.openxmlformats.org/drawingml/2006/main">
              <a:srgbClr val="6E827B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F7FAF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Точний D7</c:v>
              </c:pt>
              <c:pt idx="1">
                <c:v>Без сесії</c:v>
              </c:pt>
            </c:strLit>
          </c:cat>
          <c:val>
            <c:numLit>
              <c:formatCode>0.0</c:formatCode>
              <c:ptCount val="2"/>
              <c:pt idx="0">
                <c:v>7.8</c:v>
              </c:pt>
              <c:pt idx="1">
                <c:v>15.8</c:v>
              </c:pt>
            </c:numLit>
          </c:val>
        </c:ser>
        <c:ser>
          <c:idx val="1"/>
          <c:order val="1"/>
          <c:tx>
            <c:v>523</c:v>
          </c:tx>
          <c:spPr>
            <a:solidFill xmlns:a="http://schemas.openxmlformats.org/drawingml/2006/main">
              <a:srgbClr val="F6C85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F7FAF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Точний D7</c:v>
              </c:pt>
              <c:pt idx="1">
                <c:v>Без сесії</c:v>
              </c:pt>
            </c:strLit>
          </c:cat>
          <c:val>
            <c:numLit>
              <c:formatCode>0.0</c:formatCode>
              <c:ptCount val="2"/>
              <c:pt idx="0">
                <c:v>2.2</c:v>
              </c:pt>
              <c:pt idx="1">
                <c:v>23.9</c:v>
              </c:pt>
            </c:numLit>
          </c:val>
        </c:ser>
        <c:ser>
          <c:idx val="2"/>
          <c:order val="2"/>
          <c:tx>
            <c:v>911</c:v>
          </c:tx>
          <c:spPr>
            <a:solidFill xmlns:a="http://schemas.openxmlformats.org/drawingml/2006/main">
              <a:srgbClr val="FF9B9B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F7FAF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Точний D7</c:v>
              </c:pt>
              <c:pt idx="1">
                <c:v>Без сесії</c:v>
              </c:pt>
            </c:strLit>
          </c:cat>
          <c:val>
            <c:numLit>
              <c:formatCode>0.0</c:formatCode>
              <c:ptCount val="2"/>
              <c:pt idx="0">
                <c:v>1.5</c:v>
              </c:pt>
              <c:pt idx="1">
                <c:v>23.6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2742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8E4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7423A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27423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3A7A0"/>
                </a:solidFill>
              </a:defRPr>
            </a:pPr>
          </a:p>
        </c:txPr>
        <c:crossAx val="48650112"/>
        <c:crosses val="autoZero"/>
        <c:crossBetween val="between"/>
        <c:majorUnit val="7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DCE8E4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EB36B7D-FF90-4248-821F-EE6E914D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TENTENS</a:t>
            </a:r>
            <a:r>
              <a:rPr sz="12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 TECH  /  MANAGEMENT BRIEF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8CE9B6A-2EC1-4F93-8638-8998C90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8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Marketing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8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anti-fraud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D58508C-FE14-49B5-A094-B58091DD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Рішення щодо партнерських мереж</a:t>
            </a:r>
          </a:p>
        </p:txBody>
      </p:sp>
      <p:sp>
        <p:nvSpPr>
          <p:cNvPr id="4" name="rule-82-459">
            <a:extLst xmlns:a="http://schemas.openxmlformats.org/drawingml/2006/main">
              <a:ext uri="{FF2B5EF4-FFF2-40B4-BE49-F238E27FC236}">
                <a16:creationId xmlns:a16="http://schemas.microsoft.com/office/drawing/2014/main" id="{27F536B9-920C-401C-98D8-2681603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3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25849E84-6DEC-455F-AA21-690DB9C0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3A7A0"/>
                </a:solidFill>
                <a:latin typeface="Aptos"/>
                <a:ea typeface="Aptos"/>
                <a:cs typeface="Aptos"/>
              </a:rPr>
              <a:t>Когорти січень — липень 2026</a:t>
            </a:r>
          </a:p>
        </p:txBody>
      </p:sp>
      <p:sp>
        <p:nvSpPr>
          <p:cNvPr id="6" name="cover-binary">
            <a:extLst xmlns:a="http://schemas.openxmlformats.org/drawingml/2006/main">
              <a:ext uri="{FF2B5EF4-FFF2-40B4-BE49-F238E27FC236}">
                <a16:creationId xmlns:a16="http://schemas.microsoft.com/office/drawing/2014/main" id="{205CB071-C566-4F1E-B58D-866B9B7F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048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51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55148"/>
                </a:solidFill>
                <a:latin typeface="Aptos"/>
                <a:ea typeface="Aptos"/>
                <a:cs typeface="Aptos"/>
              </a:rPr>
              <a:t>101010001001011000011100101101</a:t>
            </a:r>
          </a:p>
        </p:txBody>
      </p:sp>
      <p:pic>
        <p:nvPicPr>
          <p:cNvPr id="16" name="Рисунок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b1242ec9f4155"/>
          <a:stretch xmlns:a="http://schemas.openxmlformats.org/drawingml/2006/main"/>
        </p:blipFill>
        <p:spPr>
          <a:xfrm xmlns:a="http://schemas.openxmlformats.org/drawingml/2006/main">
            <a:off x="7562850" y="4260244"/>
            <a:ext cx="3429000" cy="12616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29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inary-2">
            <a:extLst xmlns:a="http://schemas.openxmlformats.org/drawingml/2006/main">
              <a:ext uri="{FF2B5EF4-FFF2-40B4-BE49-F238E27FC236}">
                <a16:creationId xmlns:a16="http://schemas.microsoft.com/office/drawing/2014/main" id="{CC35306B-9368-43E3-AABC-23D3AB8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51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148"/>
                </a:solidFill>
                <a:latin typeface="Aptos"/>
                <a:ea typeface="Aptos"/>
                <a:cs typeface="Aptos"/>
              </a:rPr>
              <a:t>1010100010010110  001011010010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75FDD9D2-E1DD-4CFE-A4E9-535C9E57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ВИСНОВОК</a:t>
            </a:r>
          </a:p>
        </p:txBody>
      </p:sp>
      <p:sp>
        <p:nvSpPr>
          <p:cNvPr id="3" name="rule-74-54">
            <a:extLst xmlns:a="http://schemas.openxmlformats.org/drawingml/2006/main">
              <a:ext uri="{FF2B5EF4-FFF2-40B4-BE49-F238E27FC236}">
                <a16:creationId xmlns:a16="http://schemas.microsoft.com/office/drawing/2014/main" id="{2BC748AD-595C-469F-812B-6AE70BEC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C1A66C7D-448A-4AC8-9250-A62B9631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82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82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27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961c303194b32"/>
          <a:stretch xmlns:a="http://schemas.openxmlformats.org/drawingml/2006/main"/>
        </p:blipFill>
        <p:spPr>
          <a:xfrm xmlns:a="http://schemas.openxmlformats.org/drawingml/2006/main">
            <a:off x="10687810" y="6267450"/>
            <a:ext cx="931931" cy="342900"/>
          </a:xfrm>
          <a:prstGeom xmlns:a="http://schemas.openxmlformats.org/drawingml/2006/main" prst="rect">
            <a:avLst/>
          </a:prstGeom>
        </p:spPr>
      </p:pic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373D0DA1-F946-4CD2-BE97-7AE96F40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91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П’ять мереж потребують різних рішень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E2FF143F-FC48-46CF-962B-EACB9CDB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04CB2FFE-6AAC-4D59-8CD3-EAF9DD8D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7FAF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AF9"/>
                </a:solidFill>
                <a:latin typeface="Aptos"/>
                <a:ea typeface="Aptos"/>
                <a:cs typeface="Aptos"/>
              </a:rPr>
              <a:t>підтверджені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717BE32C-B2E2-402B-A71E-58F813A2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9B9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9B9B"/>
                </a:solidFill>
                <a:latin typeface="Aptos"/>
                <a:ea typeface="Aptos"/>
                <a:cs typeface="Aptos"/>
              </a:rPr>
              <a:t>612  ·  1052</a:t>
            </a:r>
          </a:p>
        </p:txBody>
      </p:sp>
      <p:sp>
        <p:nvSpPr>
          <p:cNvPr id="10" name="rule-434-176">
            <a:extLst xmlns:a="http://schemas.openxmlformats.org/drawingml/2006/main">
              <a:ext uri="{FF2B5EF4-FFF2-40B4-BE49-F238E27FC236}">
                <a16:creationId xmlns:a16="http://schemas.microsoft.com/office/drawing/2014/main" id="{BE307A8A-7069-437C-817F-E15EFCF9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764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587DDBEB-34C8-45EF-BA31-F439D876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5260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0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1F1832EA-B2AD-4D03-9152-DE6F7AC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19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7FAF9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AF9"/>
                </a:solidFill>
                <a:latin typeface="Aptos"/>
                <a:ea typeface="Aptos"/>
                <a:cs typeface="Aptos"/>
              </a:rPr>
              <a:t>кандидати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805285C2-D024-47F6-83D8-2F9A2EC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337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523  ·  911  ·  719</a:t>
            </a:r>
          </a:p>
        </p:txBody>
      </p:sp>
      <p:sp>
        <p:nvSpPr>
          <p:cNvPr id="14" name="rule-914-176">
            <a:extLst xmlns:a="http://schemas.openxmlformats.org/drawingml/2006/main">
              <a:ext uri="{FF2B5EF4-FFF2-40B4-BE49-F238E27FC236}">
                <a16:creationId xmlns:a16="http://schemas.microsoft.com/office/drawing/2014/main" id="{1FDC0249-60A5-4410-A40D-EBA22122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F3FCA3EC-25BE-47AB-BC21-2FDE9082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431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36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$1,61 млн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B28929A0-5D48-4F12-9C79-B444B9B4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19400"/>
            <a:ext cx="2533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втрат від chargeback у двох</a:t>
            </a:r>
          </a:p>
          <a:p xmlns:a="http://schemas.openxmlformats.org/drawingml/2006/main">
            <a:pPr algn="r">
              <a:lnSpc>
                <a:spcPct val="115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підтверджених мережах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689C58DD-250C-4182-B09C-057FDB5E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3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650" b="0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3A7A0"/>
                </a:solidFill>
                <a:latin typeface="Aptos"/>
                <a:ea typeface="Aptos"/>
                <a:cs typeface="Aptos"/>
              </a:rPr>
              <a:t>Ще 4 мережі — під наглядом.</a:t>
            </a:r>
          </a:p>
          <a:p xmlns:a="http://schemas.openxmlformats.org/drawingml/2006/main">
            <a:pPr algn="r">
              <a:lnSpc>
                <a:spcPct val="115000"/>
              </a:lnSpc>
              <a:buNone/>
              <a:defRPr sz="1650" b="0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3A7A0"/>
                </a:solidFill>
                <a:latin typeface="Aptos"/>
                <a:ea typeface="Aptos"/>
                <a:cs typeface="Aptos"/>
              </a:rPr>
              <a:t>Підстав для санкцій немає.</a:t>
            </a:r>
          </a:p>
        </p:txBody>
      </p:sp>
      <p:sp>
        <p:nvSpPr>
          <p:cNvPr id="18" name="rule-74-588">
            <a:extLst xmlns:a="http://schemas.openxmlformats.org/drawingml/2006/main">
              <a:ext uri="{FF2B5EF4-FFF2-40B4-BE49-F238E27FC236}">
                <a16:creationId xmlns:a16="http://schemas.microsoft.com/office/drawing/2014/main" id="{3B8F47E9-18A4-48D3-982D-4F0D3B06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915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3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ction-lead-Принцип">
            <a:extLst xmlns:a="http://schemas.openxmlformats.org/drawingml/2006/main">
              <a:ext uri="{FF2B5EF4-FFF2-40B4-BE49-F238E27FC236}">
                <a16:creationId xmlns:a16="http://schemas.microsoft.com/office/drawing/2014/main" id="{2D0238B8-3544-4002-9687-DBDC74A5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Принцип</a:t>
            </a:r>
          </a:p>
        </p:txBody>
      </p:sp>
      <p:sp>
        <p:nvSpPr>
          <p:cNvPr id="20" name="action-detail-Принцип">
            <a:extLst xmlns:a="http://schemas.openxmlformats.org/drawingml/2006/main">
              <a:ext uri="{FF2B5EF4-FFF2-40B4-BE49-F238E27FC236}">
                <a16:creationId xmlns:a16="http://schemas.microsoft.com/office/drawing/2014/main" id="{FCBB14D3-501B-4DF7-8B0D-E6501516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859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7FAF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9"/>
                </a:solidFill>
                <a:latin typeface="Aptos"/>
                <a:ea typeface="Aptos"/>
                <a:cs typeface="Aptos"/>
              </a:rPr>
              <a:t>Не відключати всіх: реакція залежить від механізму фроду та ROAS.</a:t>
            </a:r>
          </a:p>
        </p:txBody>
      </p:sp>
    </p:spTree>
    <p:extLst>
      <p:ext uri="{BB962C8B-B14F-4D97-AF65-F5344CB8AC3E}">
        <p14:creationId xmlns:p14="http://schemas.microsoft.com/office/powerpoint/2010/main" val="1615991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nary-3">
            <a:extLst xmlns:a="http://schemas.openxmlformats.org/drawingml/2006/main">
              <a:ext uri="{FF2B5EF4-FFF2-40B4-BE49-F238E27FC236}">
                <a16:creationId xmlns:a16="http://schemas.microsoft.com/office/drawing/2014/main" id="{22088B6B-BD87-4371-B3B6-1D356601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51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148"/>
                </a:solidFill>
                <a:latin typeface="Aptos"/>
                <a:ea typeface="Aptos"/>
                <a:cs typeface="Aptos"/>
              </a:rPr>
              <a:t>1010100010010110  001011010010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D1C95AB5-CCF5-49BE-8ED7-FEEF1E9E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3" name="rule-74-54">
            <a:extLst xmlns:a="http://schemas.openxmlformats.org/drawingml/2006/main">
              <a:ext uri="{FF2B5EF4-FFF2-40B4-BE49-F238E27FC236}">
                <a16:creationId xmlns:a16="http://schemas.microsoft.com/office/drawing/2014/main" id="{079B7CD6-8E47-4D1D-BEC4-1B7DA9D0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762B974-CE3D-4493-9172-2B8B659D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82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82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25" name="Рисунок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5258445694599"/>
          <a:stretch xmlns:a="http://schemas.openxmlformats.org/drawingml/2006/main"/>
        </p:blipFill>
        <p:spPr>
          <a:xfrm xmlns:a="http://schemas.openxmlformats.org/drawingml/2006/main">
            <a:off x="10687810" y="6267450"/>
            <a:ext cx="931931" cy="342900"/>
          </a:xfrm>
          <a:prstGeom xmlns:a="http://schemas.openxmlformats.org/drawingml/2006/main" prst="rect">
            <a:avLst/>
          </a:prstGeom>
        </p:spPr>
      </p:pic>
      <p:sp>
        <p:nvSpPr>
          <p:cNvPr id="6" name="title-3">
            <a:extLst xmlns:a="http://schemas.openxmlformats.org/drawingml/2006/main">
              <a:ext uri="{FF2B5EF4-FFF2-40B4-BE49-F238E27FC236}">
                <a16:creationId xmlns:a16="http://schemas.microsoft.com/office/drawing/2014/main" id="{2D0DF87C-6253-40A2-AE87-6550C9A7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91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612 знищує цінність: ROAS 0,85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FB75B3D3-32E5-4AF7-A29E-4C3FF8CE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3A7A0"/>
                </a:solidFill>
                <a:latin typeface="Aptos"/>
                <a:ea typeface="Aptos"/>
                <a:cs typeface="Aptos"/>
              </a:rPr>
              <a:t>Chargeback за кількістю · 60+ днів після платежу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590550" y="1924050"/>
          <a:ext xmlns:a="http://schemas.openxmlformats.org/drawingml/2006/main" cx="5143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2c9df8b09f43bc"/>
          </a:graphicData>
        </a:graphic>
      </p:graphicFrame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C63FA6A1-A02E-4C9C-9414-65853FFE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9B9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9B9B"/>
                </a:solidFill>
                <a:latin typeface="Aptos"/>
                <a:ea typeface="Aptos"/>
                <a:cs typeface="Aptos"/>
              </a:rPr>
              <a:t>×33 до PPC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C88C12A1-79B2-4803-A9E9-750F006B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7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457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91%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597857B-5118-42F6-AE6A-10C531EC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платників через 60+ днів після реєстрації</a:t>
            </a:r>
            <a:r>
              <a:rPr sz="1575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 мають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лише одну успішну оплату</a:t>
            </a:r>
          </a:p>
        </p:txBody>
      </p:sp>
      <p:sp>
        <p:nvSpPr>
          <p:cNvPr id="12" name="rule-684-358">
            <a:extLst xmlns:a="http://schemas.openxmlformats.org/drawingml/2006/main">
              <a:ext uri="{FF2B5EF4-FFF2-40B4-BE49-F238E27FC236}">
                <a16:creationId xmlns:a16="http://schemas.microsoft.com/office/drawing/2014/main" id="{588CEA40-C13C-4D89-B4AE-04393778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048507A2-F8A2-46B8-9CF9-E79EF14C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96%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E809CAA5-46B0-405F-A91D-3C874A3E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користувачів: виплата партнеру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вища за чистий дохід</a:t>
            </a:r>
          </a:p>
        </p:txBody>
      </p:sp>
      <p:sp>
        <p:nvSpPr>
          <p:cNvPr id="15" name="rule-74-588">
            <a:extLst xmlns:a="http://schemas.openxmlformats.org/drawingml/2006/main">
              <a:ext uri="{FF2B5EF4-FFF2-40B4-BE49-F238E27FC236}">
                <a16:creationId xmlns:a16="http://schemas.microsoft.com/office/drawing/2014/main" id="{4CB92007-7F01-4230-8698-0959299A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915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ction-lead-Зупинити">
            <a:extLst xmlns:a="http://schemas.openxmlformats.org/drawingml/2006/main">
              <a:ext uri="{FF2B5EF4-FFF2-40B4-BE49-F238E27FC236}">
                <a16:creationId xmlns:a16="http://schemas.microsoft.com/office/drawing/2014/main" id="{BB12CCE4-9497-4287-9100-A51A3701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Зупинити</a:t>
            </a:r>
          </a:p>
        </p:txBody>
      </p:sp>
      <p:sp>
        <p:nvSpPr>
          <p:cNvPr id="17" name="action-detail-Зупинити">
            <a:extLst xmlns:a="http://schemas.openxmlformats.org/drawingml/2006/main">
              <a:ext uri="{FF2B5EF4-FFF2-40B4-BE49-F238E27FC236}">
                <a16:creationId xmlns:a16="http://schemas.microsoft.com/office/drawing/2014/main" id="{80FEA17D-C9E2-4385-8189-A81098B8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859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7FAF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9"/>
                </a:solidFill>
                <a:latin typeface="Aptos"/>
                <a:ea typeface="Aptos"/>
                <a:cs typeface="Aptos"/>
              </a:rPr>
              <a:t>Припинити співпрацю та переглянути невиплачені конверсії.</a:t>
            </a:r>
          </a:p>
        </p:txBody>
      </p:sp>
    </p:spTree>
    <p:extLst>
      <p:ext uri="{BB962C8B-B14F-4D97-AF65-F5344CB8AC3E}">
        <p14:creationId xmlns:p14="http://schemas.microsoft.com/office/powerpoint/2010/main" val="461317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nary-4">
            <a:extLst xmlns:a="http://schemas.openxmlformats.org/drawingml/2006/main">
              <a:ext uri="{FF2B5EF4-FFF2-40B4-BE49-F238E27FC236}">
                <a16:creationId xmlns:a16="http://schemas.microsoft.com/office/drawing/2014/main" id="{B7E44CEE-EC70-4526-961F-D26FBF76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51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148"/>
                </a:solidFill>
                <a:latin typeface="Aptos"/>
                <a:ea typeface="Aptos"/>
                <a:cs typeface="Aptos"/>
              </a:rPr>
              <a:t>1010100010010110  001011010010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57975A8D-BC7C-4FE3-AECB-39758C67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3" name="rule-74-54">
            <a:extLst xmlns:a="http://schemas.openxmlformats.org/drawingml/2006/main">
              <a:ext uri="{FF2B5EF4-FFF2-40B4-BE49-F238E27FC236}">
                <a16:creationId xmlns:a16="http://schemas.microsoft.com/office/drawing/2014/main" id="{21C04EDD-3A03-4A58-8A08-E58BF446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DC3F9C3-E25B-4FC0-8509-D799F804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82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82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24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f135447a84433"/>
          <a:stretch xmlns:a="http://schemas.openxmlformats.org/drawingml/2006/main"/>
        </p:blipFill>
        <p:spPr>
          <a:xfrm xmlns:a="http://schemas.openxmlformats.org/drawingml/2006/main">
            <a:off x="10687810" y="6267450"/>
            <a:ext cx="931931" cy="342900"/>
          </a:xfrm>
          <a:prstGeom xmlns:a="http://schemas.openxmlformats.org/drawingml/2006/main" prst="rect">
            <a:avLst/>
          </a:prstGeom>
        </p:spPr>
      </p:pic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7861E2C5-1EBA-44FF-9655-E4C17915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91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1052: кардинг коштує $1,5 млн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42455F30-102B-47C5-A1F8-FFD6229A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$1,505 млн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0EBD0B84-7941-48B5-8032-B776C8AE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підтверджених chargeback-втрат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F4AA9E9B-E209-4D75-B592-7174087B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ROAS · 60+ днів після реєстрації: 6,44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6F9D4C13-0B2B-47A5-9459-B7F5E5D8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3A7A0"/>
                </a:solidFill>
                <a:latin typeface="Aptos"/>
                <a:ea typeface="Aptos"/>
                <a:cs typeface="Aptos"/>
              </a:rPr>
              <a:t>Фрод підтверджений,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3A7A0"/>
                </a:solidFill>
                <a:latin typeface="Aptos"/>
                <a:ea typeface="Aptos"/>
                <a:cs typeface="Aptos"/>
              </a:rPr>
              <a:t>але партнер залишається прибутковим.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F9161FF-9FC1-4FED-AA61-4A644E2D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621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3A7A0"/>
                </a:solidFill>
                <a:latin typeface="Aptos"/>
                <a:ea typeface="Aptos"/>
                <a:cs typeface="Aptos"/>
              </a:rPr>
              <a:t>Chargeback за сумою · 60+ днів після платежу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5791200" y="2000250"/>
          <a:ext xmlns:a="http://schemas.openxmlformats.org/drawingml/2006/main" cx="55245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4ff052e8f1490c"/>
          </a:graphicData>
        </a:graphic>
      </p:graphicFrame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AEB8EC26-510E-4385-9022-F0E62AD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720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025" b="1">
                <a:solidFill>
                  <a:srgbClr val="FF9B9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9B9B"/>
                </a:solidFill>
                <a:latin typeface="Aptos"/>
                <a:ea typeface="Aptos"/>
                <a:cs typeface="Aptos"/>
              </a:rPr>
              <a:t>≈52× PPC</a:t>
            </a:r>
          </a:p>
        </p:txBody>
      </p:sp>
      <p:sp>
        <p:nvSpPr>
          <p:cNvPr id="14" name="rule-74-588">
            <a:extLst xmlns:a="http://schemas.openxmlformats.org/drawingml/2006/main">
              <a:ext uri="{FF2B5EF4-FFF2-40B4-BE49-F238E27FC236}">
                <a16:creationId xmlns:a16="http://schemas.microsoft.com/office/drawing/2014/main" id="{8BCA7948-2698-480C-9F2A-9F022F26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915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ction-lead-Стримати">
            <a:extLst xmlns:a="http://schemas.openxmlformats.org/drawingml/2006/main">
              <a:ext uri="{FF2B5EF4-FFF2-40B4-BE49-F238E27FC236}">
                <a16:creationId xmlns:a16="http://schemas.microsoft.com/office/drawing/2014/main" id="{375074C7-94FB-43B0-88A2-403E3EE9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Стримати</a:t>
            </a:r>
          </a:p>
        </p:txBody>
      </p:sp>
      <p:sp>
        <p:nvSpPr>
          <p:cNvPr id="16" name="action-detail-Стримати">
            <a:extLst xmlns:a="http://schemas.openxmlformats.org/drawingml/2006/main">
              <a:ext uri="{FF2B5EF4-FFF2-40B4-BE49-F238E27FC236}">
                <a16:creationId xmlns:a16="http://schemas.microsoft.com/office/drawing/2014/main" id="{4988D591-9151-4218-8D6D-099EBEA7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859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7FAF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9"/>
                </a:solidFill>
                <a:latin typeface="Aptos"/>
                <a:ea typeface="Aptos"/>
                <a:cs typeface="Aptos"/>
              </a:rPr>
              <a:t>Затримка виплат 60 днів, резерв, платіжні обмеження та перегляд ставки.</a:t>
            </a:r>
          </a:p>
        </p:txBody>
      </p:sp>
    </p:spTree>
    <p:extLst>
      <p:ext uri="{BB962C8B-B14F-4D97-AF65-F5344CB8AC3E}">
        <p14:creationId xmlns:p14="http://schemas.microsoft.com/office/powerpoint/2010/main" val="7539263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nary-5">
            <a:extLst xmlns:a="http://schemas.openxmlformats.org/drawingml/2006/main">
              <a:ext uri="{FF2B5EF4-FFF2-40B4-BE49-F238E27FC236}">
                <a16:creationId xmlns:a16="http://schemas.microsoft.com/office/drawing/2014/main" id="{38CFE54F-913C-41A7-9F32-9F5C63BD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51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148"/>
                </a:solidFill>
                <a:latin typeface="Aptos"/>
                <a:ea typeface="Aptos"/>
                <a:cs typeface="Aptos"/>
              </a:rPr>
              <a:t>1010100010010110  001011010010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35057992-5B31-4284-8F01-D8473E0F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3" name="rule-74-54">
            <a:extLst xmlns:a="http://schemas.openxmlformats.org/drawingml/2006/main">
              <a:ext uri="{FF2B5EF4-FFF2-40B4-BE49-F238E27FC236}">
                <a16:creationId xmlns:a16="http://schemas.microsoft.com/office/drawing/2014/main" id="{05309433-E2C4-41DE-8A9C-E61AB3D7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74F82FC-A76F-44A4-BAFE-C93DB87E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82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82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4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9e5de9d894db8"/>
          <a:stretch xmlns:a="http://schemas.openxmlformats.org/drawingml/2006/main"/>
        </p:blipFill>
        <p:spPr>
          <a:xfrm xmlns:a="http://schemas.openxmlformats.org/drawingml/2006/main">
            <a:off x="10687810" y="6267450"/>
            <a:ext cx="931931" cy="342900"/>
          </a:xfrm>
          <a:prstGeom xmlns:a="http://schemas.openxmlformats.org/drawingml/2006/main" prst="rect">
            <a:avLst/>
          </a:prstGeom>
        </p:spPr>
      </p:pic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548928EE-654D-4978-9334-3841B239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91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523 і 911: трафік без продуктової мотивації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39BEB969-8497-48DE-BDD0-27D0693C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3A7A0"/>
                </a:solidFill>
                <a:latin typeface="Aptos"/>
                <a:ea typeface="Aptos"/>
                <a:cs typeface="Aptos"/>
              </a:rPr>
              <a:t>Поведінка після реєстрації, %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7239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94f15d49e44afe"/>
          </a:graphicData>
        </a:graphic>
      </p:graphicFrame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C7A0A33-BCB4-4726-AE01-24D6B6E5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rPr>
              <a:t>59,5%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CDDAC339-955C-4B4F-9851-191DCC5E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523: одна сесія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серед активних</a:t>
            </a:r>
          </a:p>
        </p:txBody>
      </p:sp>
      <p:sp>
        <p:nvSpPr>
          <p:cNvPr id="11" name="rule-874-370">
            <a:extLst xmlns:a="http://schemas.openxmlformats.org/drawingml/2006/main">
              <a:ext uri="{FF2B5EF4-FFF2-40B4-BE49-F238E27FC236}">
                <a16:creationId xmlns:a16="http://schemas.microsoft.com/office/drawing/2014/main" id="{5FE3DB7E-5C03-455E-8EA4-7D84E100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0A697722-C884-4B89-99BF-2E25C03A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71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825" b="1">
                <a:solidFill>
                  <a:srgbClr val="FF9B9B"/>
                </a:solidFill>
                <a:latin typeface="Aptos Display"/>
                <a:ea typeface="Aptos Display"/>
                <a:cs typeface="Aptos Display"/>
              </a:defRPr>
            </a:pPr>
            <a:r>
              <a:rPr sz="3825" b="1">
                <a:solidFill>
                  <a:srgbClr val="FF9B9B"/>
                </a:solidFill>
                <a:latin typeface="Aptos Display"/>
                <a:ea typeface="Aptos Display"/>
                <a:cs typeface="Aptos Display"/>
              </a:rPr>
              <a:t>63,2%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BA6C0658-B734-4558-900E-37F0FC7F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911: одна сесія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серед активних</a:t>
            </a:r>
          </a:p>
        </p:txBody>
      </p:sp>
      <p:sp>
        <p:nvSpPr>
          <p:cNvPr id="14" name="rule-74-588">
            <a:extLst xmlns:a="http://schemas.openxmlformats.org/drawingml/2006/main">
              <a:ext uri="{FF2B5EF4-FFF2-40B4-BE49-F238E27FC236}">
                <a16:creationId xmlns:a16="http://schemas.microsoft.com/office/drawing/2014/main" id="{3918B43C-8486-4E79-9D1C-9BB6AD36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915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ction-lead-Не масштабувати">
            <a:extLst xmlns:a="http://schemas.openxmlformats.org/drawingml/2006/main">
              <a:ext uri="{FF2B5EF4-FFF2-40B4-BE49-F238E27FC236}">
                <a16:creationId xmlns:a16="http://schemas.microsoft.com/office/drawing/2014/main" id="{134C5A14-C48B-4FF9-B33A-85CFE3F7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Не масштабувати</a:t>
            </a:r>
          </a:p>
        </p:txBody>
      </p:sp>
      <p:sp>
        <p:nvSpPr>
          <p:cNvPr id="16" name="action-detail-Не масштабувати">
            <a:extLst xmlns:a="http://schemas.openxmlformats.org/drawingml/2006/main">
              <a:ext uri="{FF2B5EF4-FFF2-40B4-BE49-F238E27FC236}">
                <a16:creationId xmlns:a16="http://schemas.microsoft.com/office/drawing/2014/main" id="{4D77A359-8D6C-405F-893C-2B386C63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859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7FAF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9"/>
                </a:solidFill>
                <a:latin typeface="Aptos"/>
                <a:ea typeface="Aptos"/>
                <a:cs typeface="Aptos"/>
              </a:rPr>
              <a:t>Перевірити джерела 523; для 911 додати умови якості до оплати.</a:t>
            </a:r>
          </a:p>
        </p:txBody>
      </p:sp>
    </p:spTree>
    <p:extLst>
      <p:ext uri="{BB962C8B-B14F-4D97-AF65-F5344CB8AC3E}">
        <p14:creationId xmlns:p14="http://schemas.microsoft.com/office/powerpoint/2010/main" val="1990186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nary-6">
            <a:extLst xmlns:a="http://schemas.openxmlformats.org/drawingml/2006/main">
              <a:ext uri="{FF2B5EF4-FFF2-40B4-BE49-F238E27FC236}">
                <a16:creationId xmlns:a16="http://schemas.microsoft.com/office/drawing/2014/main" id="{31848DCF-82A4-424F-976C-4A5608B7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51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148"/>
                </a:solidFill>
                <a:latin typeface="Aptos"/>
                <a:ea typeface="Aptos"/>
                <a:cs typeface="Aptos"/>
              </a:rPr>
              <a:t>1010100010010110  001011010010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F3FE93FB-B233-43FD-B726-F27F6A43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3" name="rule-74-54">
            <a:extLst xmlns:a="http://schemas.openxmlformats.org/drawingml/2006/main">
              <a:ext uri="{FF2B5EF4-FFF2-40B4-BE49-F238E27FC236}">
                <a16:creationId xmlns:a16="http://schemas.microsoft.com/office/drawing/2014/main" id="{BC9972E6-B131-445C-AF0C-E376EE2E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2FE5BDB4-5D1E-4370-B2B0-C5B68165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82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82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25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a845ba6614a99"/>
          <a:stretch xmlns:a="http://schemas.openxmlformats.org/drawingml/2006/main"/>
        </p:blipFill>
        <p:spPr>
          <a:xfrm xmlns:a="http://schemas.openxmlformats.org/drawingml/2006/main">
            <a:off x="10687810" y="6267450"/>
            <a:ext cx="931931" cy="342900"/>
          </a:xfrm>
          <a:prstGeom xmlns:a="http://schemas.openxmlformats.org/drawingml/2006/main" prst="rect">
            <a:avLst/>
          </a:prstGeom>
        </p:spPr>
      </p:pic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3DC14273-0766-4B2A-95FB-E96329D8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91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719: оплата за вже відомих користувачів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1DA25576-7C28-4D0A-8A3F-8658B001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75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defRPr>
            </a:pPr>
            <a:r>
              <a:rPr sz="4575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rPr>
              <a:t>15,7%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D742F2E-6F37-460C-9142-ADD2BF7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реєстрацій із виплатою партнеру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вже мали попередній clean touch</a:t>
            </a:r>
          </a:p>
        </p:txBody>
      </p:sp>
      <p:sp>
        <p:nvSpPr>
          <p:cNvPr id="9" name="rule-420-190">
            <a:extLst xmlns:a="http://schemas.openxmlformats.org/drawingml/2006/main">
              <a:ext uri="{FF2B5EF4-FFF2-40B4-BE49-F238E27FC236}">
                <a16:creationId xmlns:a16="http://schemas.microsoft.com/office/drawing/2014/main" id="{01AE93B5-3243-44F3-80E5-FA31A768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190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A1FA0D9D-5E58-4D53-8DF5-96593CEA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75" b="1">
                <a:solidFill>
                  <a:srgbClr val="00F3BC"/>
                </a:solidFill>
                <a:latin typeface="Aptos Display"/>
                <a:ea typeface="Aptos Display"/>
                <a:cs typeface="Aptos Display"/>
              </a:defRPr>
            </a:pPr>
            <a:r>
              <a:rPr sz="4575" b="1">
                <a:solidFill>
                  <a:srgbClr val="00F3BC"/>
                </a:solidFill>
                <a:latin typeface="Aptos Display"/>
                <a:ea typeface="Aptos Display"/>
                <a:cs typeface="Aptos Display"/>
              </a:rPr>
              <a:t>16,6%</a:t>
            </a:r>
          </a:p>
        </p:txBody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93EE5C47-9C13-4DAE-81D7-8B7316CA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витрат припадає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на вже відомих користувачів</a:t>
            </a:r>
          </a:p>
        </p:txBody>
      </p:sp>
      <p:sp>
        <p:nvSpPr>
          <p:cNvPr id="12" name="rule-816-190">
            <a:extLst xmlns:a="http://schemas.openxmlformats.org/drawingml/2006/main">
              <a:ext uri="{FF2B5EF4-FFF2-40B4-BE49-F238E27FC236}">
                <a16:creationId xmlns:a16="http://schemas.microsoft.com/office/drawing/2014/main" id="{D463E3E0-4EAC-4368-A0D9-BEAA529E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1905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7083F65-A38D-4AD8-9202-5D8E5600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57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457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1,8×</a:t>
            </a: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0F5E6B76-1E8E-48D4-88F9-01729962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003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вища конверсія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у повторних користувачів</a:t>
            </a:r>
          </a:p>
        </p:txBody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FA8B3E4-8F29-4A13-A32A-8BC0E216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3A7A0"/>
                </a:solidFill>
                <a:latin typeface="Aptos"/>
                <a:ea typeface="Aptos"/>
                <a:cs typeface="Aptos"/>
              </a:rPr>
              <a:t>Альтернатива: дозволений ретаргетинг. Без правил вікна атрибуції це кандидат, а не підтверджений фрод.</a:t>
            </a:r>
          </a:p>
        </p:txBody>
      </p:sp>
      <p:sp>
        <p:nvSpPr>
          <p:cNvPr id="16" name="rule-74-588">
            <a:extLst xmlns:a="http://schemas.openxmlformats.org/drawingml/2006/main">
              <a:ext uri="{FF2B5EF4-FFF2-40B4-BE49-F238E27FC236}">
                <a16:creationId xmlns:a16="http://schemas.microsoft.com/office/drawing/2014/main" id="{19A87830-1E7B-49A0-B56B-D9F833C7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915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ction-lead-Перевірити">
            <a:extLst xmlns:a="http://schemas.openxmlformats.org/drawingml/2006/main">
              <a:ext uri="{FF2B5EF4-FFF2-40B4-BE49-F238E27FC236}">
                <a16:creationId xmlns:a16="http://schemas.microsoft.com/office/drawing/2014/main" id="{2D33625C-74D0-4443-ADAF-2456D573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Перевірити</a:t>
            </a:r>
          </a:p>
        </p:txBody>
      </p:sp>
      <p:sp>
        <p:nvSpPr>
          <p:cNvPr id="18" name="action-detail-Перевірити">
            <a:extLst xmlns:a="http://schemas.openxmlformats.org/drawingml/2006/main">
              <a:ext uri="{FF2B5EF4-FFF2-40B4-BE49-F238E27FC236}">
                <a16:creationId xmlns:a16="http://schemas.microsoft.com/office/drawing/2014/main" id="{FF30F239-7B8B-4984-9613-F9AB9EB1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859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7FAF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9"/>
                </a:solidFill>
                <a:latin typeface="Aptos"/>
                <a:ea typeface="Aptos"/>
                <a:cs typeface="Aptos"/>
              </a:rPr>
              <a:t>Вікно атрибуції, договори та повторні id_metauser — до зміни ставки.</a:t>
            </a:r>
          </a:p>
        </p:txBody>
      </p:sp>
    </p:spTree>
    <p:extLst>
      <p:ext uri="{BB962C8B-B14F-4D97-AF65-F5344CB8AC3E}">
        <p14:creationId xmlns:p14="http://schemas.microsoft.com/office/powerpoint/2010/main" val="1632182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nary-7">
            <a:extLst xmlns:a="http://schemas.openxmlformats.org/drawingml/2006/main">
              <a:ext uri="{FF2B5EF4-FFF2-40B4-BE49-F238E27FC236}">
                <a16:creationId xmlns:a16="http://schemas.microsoft.com/office/drawing/2014/main" id="{C968AA25-C32D-421F-B23D-DF916819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51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148"/>
                </a:solidFill>
                <a:latin typeface="Aptos"/>
                <a:ea typeface="Aptos"/>
                <a:cs typeface="Aptos"/>
              </a:rPr>
              <a:t>1010100010010110  001011010010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0C5F84EE-A39A-471A-A1F9-64D60C42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3" name="rule-74-54">
            <a:extLst xmlns:a="http://schemas.openxmlformats.org/drawingml/2006/main">
              <a:ext uri="{FF2B5EF4-FFF2-40B4-BE49-F238E27FC236}">
                <a16:creationId xmlns:a16="http://schemas.microsoft.com/office/drawing/2014/main" id="{9499593B-B315-44C9-8EF1-A675E0D6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DDC506A9-1EF2-401B-AFA8-79EE32CB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82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82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8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6722279c04758"/>
          <a:stretch xmlns:a="http://schemas.openxmlformats.org/drawingml/2006/main"/>
        </p:blipFill>
        <p:spPr>
          <a:xfrm xmlns:a="http://schemas.openxmlformats.org/drawingml/2006/main">
            <a:off x="10687810" y="6267450"/>
            <a:ext cx="931931" cy="342900"/>
          </a:xfrm>
          <a:prstGeom xmlns:a="http://schemas.openxmlformats.org/drawingml/2006/main" prst="rect">
            <a:avLst/>
          </a:prstGeom>
        </p:spPr>
      </p:pic>
      <p:sp>
        <p:nvSpPr>
          <p:cNvPr id="6" name="title-7">
            <a:extLst xmlns:a="http://schemas.openxmlformats.org/drawingml/2006/main">
              <a:ext uri="{FF2B5EF4-FFF2-40B4-BE49-F238E27FC236}">
                <a16:creationId xmlns:a16="http://schemas.microsoft.com/office/drawing/2014/main" id="{FF8B8F54-566B-4DCE-90E3-FCF9C39D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91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Список нагляду — це контроль, а не звинувачення</a:t>
            </a:r>
          </a:p>
        </p:txBody>
      </p:sp>
      <p:graphicFrame>
        <p:nvGraphicFramePr>
          <p:cNvPr id="20" name="Таблица 16"/>
          <p:cNvGraphicFramePr/>
          <p:nvPr/>
        </p:nvGraphicFramePr>
        <p:xfrm>
          <a:off xmlns:a="http://schemas.openxmlformats.org/drawingml/2006/main" x="781050" y="1695450"/>
          <a:ext xmlns:a="http://schemas.openxmlformats.org/drawingml/2006/main" cx="104394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5095875"/>
                <a:gridCol w="339090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110E"/>
                          </a:solidFill>
                          <a:latin typeface="Aptos"/>
                          <a:ea typeface="Aptos"/>
                          <a:cs typeface="Aptos"/>
                        </a:rPr>
                        <a:t>Мережа</a:t>
                      </a:r>
                    </a:p>
                  </a:txBody>
                  <a:tcPr marL="91440" marR="91440" marT="45720" marB="45720">
                    <a:solidFill>
                      <a:srgbClr val="00F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110E"/>
                          </a:solidFill>
                          <a:latin typeface="Aptos"/>
                          <a:ea typeface="Aptos"/>
                          <a:cs typeface="Aptos"/>
                        </a:rPr>
                        <a:t>Що бачимо</a:t>
                      </a:r>
                    </a:p>
                  </a:txBody>
                  <a:tcPr marL="91440" marR="91440" marT="45720" marB="45720">
                    <a:solidFill>
                      <a:srgbClr val="00F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110E"/>
                          </a:solidFill>
                          <a:latin typeface="Aptos"/>
                          <a:ea typeface="Aptos"/>
                          <a:cs typeface="Aptos"/>
                        </a:rPr>
                        <a:t>Рішення</a:t>
                      </a:r>
                    </a:p>
                  </a:txBody>
                  <a:tcPr marL="91440" marR="91440" marT="45720" marB="45720">
                    <a:solidFill>
                      <a:srgbClr val="00F3B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7FAF9"/>
                          </a:solidFill>
                          <a:latin typeface="Aptos"/>
                          <a:ea typeface="Aptos"/>
                          <a:cs typeface="Aptos"/>
                        </a:rPr>
                        <a:t>833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Стійкий часовий сигнал, але немає другого доказу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C85F"/>
                          </a:solidFill>
                          <a:latin typeface="Aptos"/>
                          <a:ea typeface="Aptos"/>
                          <a:cs typeface="Aptos"/>
                        </a:rPr>
                        <a:t>Моніторинг автоматизації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7FAF9"/>
                          </a:solidFill>
                          <a:latin typeface="Aptos"/>
                          <a:ea typeface="Aptos"/>
                          <a:cs typeface="Aptos"/>
                        </a:rPr>
                        <a:t>851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Слабка залученість без фінансового сигналу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C85F"/>
                          </a:solidFill>
                          <a:latin typeface="Aptos"/>
                          <a:ea typeface="Aptos"/>
                          <a:cs typeface="Aptos"/>
                        </a:rPr>
                        <a:t>Контроль країна × місяць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7FAF9"/>
                          </a:solidFill>
                          <a:latin typeface="Aptos"/>
                          <a:ea typeface="Aptos"/>
                          <a:cs typeface="Aptos"/>
                        </a:rPr>
                        <a:t>1002 / 889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Ризик переплати CPS, але ROAS 6,28 / 9,69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C85F"/>
                          </a:solidFill>
                          <a:latin typeface="Aptos"/>
                          <a:ea typeface="Aptos"/>
                          <a:cs typeface="Aptos"/>
                        </a:rPr>
                        <a:t>Контроль 60+ днів / LTV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F3BC"/>
                          </a:solidFill>
                          <a:latin typeface="Aptos"/>
                          <a:ea typeface="Aptos"/>
                          <a:cs typeface="Aptos"/>
                        </a:rPr>
                        <a:t>303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Після виправлення coverage профіль близький до норми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F3BC"/>
                          </a:solidFill>
                          <a:latin typeface="Aptos"/>
                          <a:ea typeface="Aptos"/>
                          <a:cs typeface="Aptos"/>
                        </a:rPr>
                        <a:t>Гіпотезу</a:t>
                      </a:r>
                      <a:r>
                        <a:rPr sz="1650" b="1">
                          <a:solidFill>
                            <a:srgbClr val="00F3BC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1650" b="1">
                          <a:solidFill>
                            <a:srgbClr val="00F3BC"/>
                          </a:solidFill>
                          <a:latin typeface="Aptos"/>
                          <a:ea typeface="Aptos"/>
                          <a:cs typeface="Aptos"/>
                        </a:rPr>
                        <a:t>фроду</a:t>
                      </a:r>
                      <a:r>
                        <a:rPr sz="1650" b="1">
                          <a:solidFill>
                            <a:srgbClr val="00F3BC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sz="1650" b="1">
                          <a:solidFill>
                            <a:srgbClr val="00F3BC"/>
                          </a:solidFill>
                          <a:latin typeface="Aptos"/>
                          <a:ea typeface="Aptos"/>
                          <a:cs typeface="Aptos"/>
                        </a:rPr>
                        <a:t>закрито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</a:tr>
            </a:tbl>
          </a:graphicData>
        </a:graphic>
      </p:graphicFrame>
      <p:sp>
        <p:nvSpPr>
          <p:cNvPr id="8" name="rule-74-588">
            <a:extLst xmlns:a="http://schemas.openxmlformats.org/drawingml/2006/main">
              <a:ext uri="{FF2B5EF4-FFF2-40B4-BE49-F238E27FC236}">
                <a16:creationId xmlns:a16="http://schemas.microsoft.com/office/drawing/2014/main" id="{B7DD9F4C-728A-4A2A-ADC9-3231B5F5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0915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3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tion-lead-Точність">
            <a:extLst xmlns:a="http://schemas.openxmlformats.org/drawingml/2006/main">
              <a:ext uri="{FF2B5EF4-FFF2-40B4-BE49-F238E27FC236}">
                <a16:creationId xmlns:a16="http://schemas.microsoft.com/office/drawing/2014/main" id="{B32E8EDE-7501-451A-BA3E-07796714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Точність</a:t>
            </a:r>
          </a:p>
        </p:txBody>
      </p:sp>
      <p:sp>
        <p:nvSpPr>
          <p:cNvPr id="10" name="action-detail-Точність">
            <a:extLst xmlns:a="http://schemas.openxmlformats.org/drawingml/2006/main">
              <a:ext uri="{FF2B5EF4-FFF2-40B4-BE49-F238E27FC236}">
                <a16:creationId xmlns:a16="http://schemas.microsoft.com/office/drawing/2014/main" id="{63D3D554-56BB-47E7-B01C-223C9D29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859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F7FAF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9"/>
                </a:solidFill>
                <a:latin typeface="Aptos"/>
                <a:ea typeface="Aptos"/>
                <a:cs typeface="Aptos"/>
              </a:rPr>
              <a:t>Не плутати слабку якість із фродом — це знижує ризик відключити чесного партнера.</a:t>
            </a:r>
          </a:p>
        </p:txBody>
      </p:sp>
    </p:spTree>
    <p:extLst>
      <p:ext uri="{BB962C8B-B14F-4D97-AF65-F5344CB8AC3E}">
        <p14:creationId xmlns:p14="http://schemas.microsoft.com/office/powerpoint/2010/main" val="6138210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nary-8">
            <a:extLst xmlns:a="http://schemas.openxmlformats.org/drawingml/2006/main">
              <a:ext uri="{FF2B5EF4-FFF2-40B4-BE49-F238E27FC236}">
                <a16:creationId xmlns:a16="http://schemas.microsoft.com/office/drawing/2014/main" id="{C4EFE0E7-3CB3-4D62-80F9-F3389FE2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51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148"/>
                </a:solidFill>
                <a:latin typeface="Aptos"/>
                <a:ea typeface="Aptos"/>
                <a:cs typeface="Aptos"/>
              </a:rPr>
              <a:t>1010100010010110  001011010010</a:t>
            </a:r>
          </a:p>
        </p:txBody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9EB6C5BF-8DD8-44BC-8E74-E0DD1483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3" name="rule-74-54">
            <a:extLst xmlns:a="http://schemas.openxmlformats.org/drawingml/2006/main">
              <a:ext uri="{FF2B5EF4-FFF2-40B4-BE49-F238E27FC236}">
                <a16:creationId xmlns:a16="http://schemas.microsoft.com/office/drawing/2014/main" id="{92BA2A6A-CE2F-4AC7-B6EF-3BCEE561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1EB70ECF-1308-45FC-9B6F-9B1F6982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82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82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6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9ed5aa05e46bd"/>
          <a:stretch xmlns:a="http://schemas.openxmlformats.org/drawingml/2006/main"/>
        </p:blipFill>
        <p:spPr>
          <a:xfrm xmlns:a="http://schemas.openxmlformats.org/drawingml/2006/main">
            <a:off x="10687810" y="6267450"/>
            <a:ext cx="931931" cy="342900"/>
          </a:xfrm>
          <a:prstGeom xmlns:a="http://schemas.openxmlformats.org/drawingml/2006/main" prst="rect">
            <a:avLst/>
          </a:prstGeom>
        </p:spPr>
      </p:pic>
      <p:sp>
        <p:nvSpPr>
          <p:cNvPr id="6" name="title-8">
            <a:extLst xmlns:a="http://schemas.openxmlformats.org/drawingml/2006/main">
              <a:ext uri="{FF2B5EF4-FFF2-40B4-BE49-F238E27FC236}">
                <a16:creationId xmlns:a16="http://schemas.microsoft.com/office/drawing/2014/main" id="{3AA980DD-13D1-4036-8609-3C3A8E2D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91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Чотири правила переводять ризик у дію</a:t>
            </a:r>
          </a:p>
        </p:txBody>
      </p:sp>
      <p:graphicFrame>
        <p:nvGraphicFramePr>
          <p:cNvPr id="18" name="Таблица 14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95750"/>
                <a:gridCol w="3676650"/>
              </a:tblGrid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110E"/>
                          </a:solidFill>
                          <a:latin typeface="Aptos"/>
                          <a:ea typeface="Aptos"/>
                          <a:cs typeface="Aptos"/>
                        </a:rPr>
                        <a:t>Сигнал</a:t>
                      </a:r>
                    </a:p>
                  </a:txBody>
                  <a:tcPr marL="91440" marR="91440" marT="45720" marB="45720">
                    <a:solidFill>
                      <a:srgbClr val="00F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110E"/>
                          </a:solidFill>
                          <a:latin typeface="Aptos"/>
                          <a:ea typeface="Aptos"/>
                          <a:cs typeface="Aptos"/>
                        </a:rPr>
                        <a:t>Коли діємо</a:t>
                      </a:r>
                    </a:p>
                  </a:txBody>
                  <a:tcPr marL="91440" marR="91440" marT="45720" marB="45720">
                    <a:solidFill>
                      <a:srgbClr val="00F3B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7110E"/>
                          </a:solidFill>
                          <a:latin typeface="Aptos"/>
                          <a:ea typeface="Aptos"/>
                          <a:cs typeface="Aptos"/>
                        </a:rPr>
                        <a:t>Реакція</a:t>
                      </a:r>
                    </a:p>
                  </a:txBody>
                  <a:tcPr marL="91440" marR="91440" marT="45720" marB="45720">
                    <a:solidFill>
                      <a:srgbClr val="00F3BC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9B9B"/>
                          </a:solidFill>
                          <a:latin typeface="Aptos"/>
                          <a:ea typeface="Aptos"/>
                          <a:cs typeface="Aptos"/>
                        </a:rPr>
                        <a:t>Високий chargeback через 60+ днів після платежу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Понад 2% і щонайменше утричі вище за PPC; від 1 000 успішних платежів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Затримка виплат, резерв, перевірка платежів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C85F"/>
                          </a:solidFill>
                          <a:latin typeface="Aptos"/>
                          <a:ea typeface="Aptos"/>
                          <a:cs typeface="Aptos"/>
                        </a:rPr>
                        <a:t>Слабкий D7 + багато без сесій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D7 на 40% нижчий за PPC, а без сесій на 30% більше; від 500 реєстрацій у партнера та PPC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Не масштабувати, перевірити джерело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6C85F"/>
                          </a:solidFill>
                          <a:latin typeface="Aptos"/>
                          <a:ea typeface="Aptos"/>
                          <a:cs typeface="Aptos"/>
                        </a:rPr>
                        <a:t>Повторна атрибуція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Понад 5% і щонайменше утричі вище за PPC; від 1 000 оплачених реєстрацій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Перевірити вікно атрибуції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9B9B"/>
                          </a:solidFill>
                          <a:latin typeface="Aptos"/>
                          <a:ea typeface="Aptos"/>
                          <a:cs typeface="Aptos"/>
                        </a:rPr>
                        <a:t>Слабкий ROAS через 60+ днів після реєстрації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ROAS нижче 1 або більш ніж на 30% нижче за орієнтир; витрати від $10 тис.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DCE8E4"/>
                          </a:solidFill>
                          <a:latin typeface="Aptos"/>
                          <a:ea typeface="Aptos"/>
                          <a:cs typeface="Aptos"/>
                        </a:rPr>
                        <a:t>Зупинити або переглянути ставку</a:t>
                      </a:r>
                    </a:p>
                  </a:txBody>
                  <a:tcPr marL="91440" marR="91440" marT="45720" marB="45720">
                    <a:solidFill>
                      <a:srgbClr val="0B1915"/>
                    </a:solidFill>
                  </a:tcPr>
                </a:tc>
              </a:tr>
            </a:tbl>
          </a:graphicData>
        </a:graphic>
      </p:graphicFrame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2B91E9AD-4B62-4EE4-84D7-AA4F4595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93A7A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93A7A0"/>
                </a:solidFill>
                <a:latin typeface="Aptos"/>
                <a:ea typeface="Aptos"/>
                <a:cs typeface="Aptos"/>
              </a:rPr>
              <a:t>Періодичність: щотижня — економіка й chargeback; країна × місяць — якість; мережа × місяць — атрибуція.</a:t>
            </a:r>
          </a:p>
        </p:txBody>
      </p:sp>
    </p:spTree>
    <p:extLst>
      <p:ext uri="{BB962C8B-B14F-4D97-AF65-F5344CB8AC3E}">
        <p14:creationId xmlns:p14="http://schemas.microsoft.com/office/powerpoint/2010/main" val="1593998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binary-9">
            <a:extLst xmlns:a="http://schemas.openxmlformats.org/drawingml/2006/main">
              <a:ext uri="{FF2B5EF4-FFF2-40B4-BE49-F238E27FC236}">
                <a16:creationId xmlns:a16="http://schemas.microsoft.com/office/drawing/2014/main" id="{CFDFEB2E-07DE-42DB-8161-2C5D7E98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51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5148"/>
                </a:solidFill>
                <a:latin typeface="Aptos"/>
                <a:ea typeface="Aptos"/>
                <a:cs typeface="Aptos"/>
              </a:rPr>
              <a:t>1010100010010110  001011010010</a:t>
            </a:r>
          </a:p>
        </p:txBody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28714C2F-75B9-40AD-99A4-5E7F464B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00F3B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F3BC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" name="rule-74-54">
            <a:extLst xmlns:a="http://schemas.openxmlformats.org/drawingml/2006/main">
              <a:ext uri="{FF2B5EF4-FFF2-40B4-BE49-F238E27FC236}">
                <a16:creationId xmlns:a16="http://schemas.microsoft.com/office/drawing/2014/main" id="{F01092B0-6DDA-4FA4-9533-CD227D62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CD439699-A84A-446F-BC58-41409505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E827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82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pic>
        <p:nvPicPr>
          <p:cNvPr id="30" name="Рисунок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5927242e14312"/>
          <a:stretch xmlns:a="http://schemas.openxmlformats.org/drawingml/2006/main"/>
        </p:blipFill>
        <p:spPr>
          <a:xfrm xmlns:a="http://schemas.openxmlformats.org/drawingml/2006/main">
            <a:off x="10687810" y="6267450"/>
            <a:ext cx="931931" cy="342900"/>
          </a:xfrm>
          <a:prstGeom xmlns:a="http://schemas.openxmlformats.org/drawingml/2006/main" prst="rect">
            <a:avLst/>
          </a:prstGeom>
        </p:spPr>
      </p:pic>
      <p:sp>
        <p:nvSpPr>
          <p:cNvPr id="6" name="title-9">
            <a:extLst xmlns:a="http://schemas.openxmlformats.org/drawingml/2006/main">
              <a:ext uri="{FF2B5EF4-FFF2-40B4-BE49-F238E27FC236}">
                <a16:creationId xmlns:a16="http://schemas.microsoft.com/office/drawing/2014/main" id="{BE907AAD-C23E-4B7B-BEB1-6FF47286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91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Рішення на зараз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97F1792-2BE6-4A1F-95DD-D6F7FC2F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ЗУПИНИТИ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A7FD7AE9-828E-4AB6-AB2D-46DE2427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612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285BF681-82A7-4649-A2F4-BEC4B75C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537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Фрод + негативна економіка</a:t>
            </a:r>
          </a:p>
        </p:txBody>
      </p:sp>
      <p:sp>
        <p:nvSpPr>
          <p:cNvPr id="10" name="rule-82-236">
            <a:extLst xmlns:a="http://schemas.openxmlformats.org/drawingml/2006/main">
              <a:ext uri="{FF2B5EF4-FFF2-40B4-BE49-F238E27FC236}">
                <a16:creationId xmlns:a16="http://schemas.microsoft.com/office/drawing/2014/main" id="{E6BBDFC3-B84E-4465-9443-533928A7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64ED4A3-E7C7-4874-A33F-5A202184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rPr>
              <a:t>СТРИМАТИ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C8A37943-35C9-4D93-8367-0FE63504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1052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09B96EAD-9E69-48A2-BD63-08E9AD28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9850"/>
            <a:ext cx="537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Затримка виплат 60 днів і платіжні обмеження</a:t>
            </a:r>
          </a:p>
        </p:txBody>
      </p:sp>
      <p:sp>
        <p:nvSpPr>
          <p:cNvPr id="14" name="rule-82-336">
            <a:extLst xmlns:a="http://schemas.openxmlformats.org/drawingml/2006/main">
              <a:ext uri="{FF2B5EF4-FFF2-40B4-BE49-F238E27FC236}">
                <a16:creationId xmlns:a16="http://schemas.microsoft.com/office/drawing/2014/main" id="{424C59E7-02C2-48E1-9C30-DB2DA97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09AD0245-6110-4224-AD4B-2FB6B4CD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6C85F"/>
                </a:solidFill>
                <a:latin typeface="Aptos Display"/>
                <a:ea typeface="Aptos Display"/>
                <a:cs typeface="Aptos Display"/>
              </a:rPr>
              <a:t>НЕ МАСШТАБУВАТИ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5CF590BF-96CC-4D54-A551-86A40182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242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523 / 911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38B8832-9232-4B25-8262-BF3379A5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62350"/>
            <a:ext cx="537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Перевірка джерел та умови якості</a:t>
            </a:r>
          </a:p>
        </p:txBody>
      </p:sp>
      <p:sp>
        <p:nvSpPr>
          <p:cNvPr id="18" name="rule-82-436">
            <a:extLst xmlns:a="http://schemas.openxmlformats.org/drawingml/2006/main">
              <a:ext uri="{FF2B5EF4-FFF2-40B4-BE49-F238E27FC236}">
                <a16:creationId xmlns:a16="http://schemas.microsoft.com/office/drawing/2014/main" id="{AF421A99-6724-42FF-8844-41602913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1D6D9BE3-3114-4046-A768-8DEB731D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0F3B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0F3BC"/>
                </a:solidFill>
                <a:latin typeface="Aptos Display"/>
                <a:ea typeface="Aptos Display"/>
                <a:cs typeface="Aptos Display"/>
              </a:rPr>
              <a:t>ПЕРЕВІРИТИ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1EEE59E8-3638-438E-A964-603E1D48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767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AF9"/>
                </a:solidFill>
                <a:latin typeface="Aptos Display"/>
                <a:ea typeface="Aptos Display"/>
                <a:cs typeface="Aptos Display"/>
              </a:rPr>
              <a:t>719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BAF43665-0791-4AC4-8F67-E281AD57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14850"/>
            <a:ext cx="537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DCE8E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CE8E4"/>
                </a:solidFill>
                <a:latin typeface="Aptos"/>
                <a:ea typeface="Aptos"/>
                <a:cs typeface="Aptos"/>
              </a:rPr>
              <a:t>Правила атрибуції — до зміни ставки</a:t>
            </a:r>
          </a:p>
        </p:txBody>
      </p:sp>
      <p:sp>
        <p:nvSpPr>
          <p:cNvPr id="22" name="rule-82-536">
            <a:extLst xmlns:a="http://schemas.openxmlformats.org/drawingml/2006/main">
              <a:ext uri="{FF2B5EF4-FFF2-40B4-BE49-F238E27FC236}">
                <a16:creationId xmlns:a16="http://schemas.microsoft.com/office/drawing/2014/main" id="{3AD2F642-78FD-4EE3-B6F4-114A48E2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10553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E76DD5D3-2809-44F8-AD16-E93A05AE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9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77FFD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7FFD9"/>
                </a:solidFill>
                <a:latin typeface="Aptos"/>
                <a:ea typeface="Aptos"/>
                <a:cs typeface="Aptos"/>
              </a:rPr>
              <a:t>Очікуваний результат: менше втрат без необґрунтованого скорочення прибуткового трафіку.</a:t>
            </a:r>
          </a:p>
        </p:txBody>
      </p:sp>
    </p:spTree>
    <p:extLst>
      <p:ext uri="{BB962C8B-B14F-4D97-AF65-F5344CB8AC3E}">
        <p14:creationId xmlns:p14="http://schemas.microsoft.com/office/powerpoint/2010/main" val="1735402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2026-07-26T12:13:25.2580000Z</dcterms:created>
  <dcterms:modified xsi:type="dcterms:W3CDTF">2026-07-26T12:13:25.2580000Z</dcterms:modified>
</coreProperties>
</file>